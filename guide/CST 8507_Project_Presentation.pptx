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 autoAdjust="0"/>
    <p:restoredTop sz="97416" autoAdjust="0"/>
  </p:normalViewPr>
  <p:slideViewPr>
    <p:cSldViewPr snapToGrid="0" snapToObjects="1">
      <p:cViewPr varScale="1">
        <p:scale>
          <a:sx n="160" d="100"/>
          <a:sy n="160" d="100"/>
        </p:scale>
        <p:origin x="96" y="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8396E-E1F3-4DEC-9B6B-1D4F8E65773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zh-CN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143AC-8CF0-4907-AA33-90E4D28EE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404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143AC-8CF0-4907-AA33-90E4D28EE02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936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143AC-8CF0-4907-AA33-90E4D28EE02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743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AI Textbook Q&amp;A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B6ABF"/>
                </a:solidFill>
                <a:latin typeface="Segoe UI"/>
              </a:defRPr>
            </a:pPr>
            <a:r>
              <a:t>A RAG-Based Educational Question Answering System</a:t>
            </a:r>
            <a:br/>
            <a:r>
              <a:t>with Deep Source Tracing &amp; ROS 2 Voice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6576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Hye Ran Yoo (041145212)  |  Peng Wang (0</a:t>
            </a:r>
            <a:r>
              <a:rPr lang="en-US" dirty="0"/>
              <a:t>41107730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CST8507: Natural Language Processing</a:t>
            </a:r>
            <a:br/>
            <a:r>
              <a:t>April 3,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669280"/>
            <a:ext cx="2011680" cy="457200"/>
          </a:xfrm>
          <a:prstGeom prst="round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Part 1: RAG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669280"/>
            <a:ext cx="2011680" cy="4572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Part 2: ROS 2 Voice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  <a:latin typeface="Segoe UI"/>
              </a:defRPr>
            </a:pPr>
            <a:r>
              <a:t>Part 1: RAG Pipeline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1. Introduction &amp; Motivation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2. Dataset (46 Textbooks)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3. Preprocessing Pipeline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4. Hybrid Retrieval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5. Deep Source Tracing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6. Streamlit UI Demo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7. Evaluation (20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  <a:latin typeface="Segoe UI"/>
              </a:defRPr>
            </a:pPr>
            <a:r>
              <a:t>Part 2: ROS 2 Integration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8. ROS 2 Architecture (5 Nodes)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9. Implementation Details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10. Live Demo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  <a:latin typeface="Segoe UI"/>
              </a:defRPr>
            </a:pPr>
            <a:r>
              <a:t>Wrap-Up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11. Challenges &amp; Solutions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12. Discussion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1. Introduction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Problem &gt; Goal &gt; 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41278"/>
            <a:ext cx="3474720" cy="2641777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51332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4D"/>
                </a:solidFill>
                <a:latin typeface="Segoe UI"/>
              </a:defRPr>
            </a:pPr>
            <a:r>
              <a:rPr dirty="0"/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0525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Students face 46+ AI/ML textbooks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Hard to navigate across books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No unified search system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No way to verify answer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341278"/>
            <a:ext cx="3474720" cy="2641777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51332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70525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Ask natural language questions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Get accurate, sourced answers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Deep source tracing: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  Book &gt; Chapter &gt; Page &gt; Region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Click to see original 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41278"/>
            <a:ext cx="3474720" cy="2641777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51332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970525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RAG pipeline with 4 retrievers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RRF fusion for ranking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Ollama LLM (qwen2.5:0.5b)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Streamlit UI + PDF viewer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ROS 2 voice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47120" cy="7315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59125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Segoe UI"/>
              </a:defRPr>
            </a:pPr>
            <a:r>
              <a:rPr dirty="0"/>
              <a:t>Research Question: How can we build a transparent, traceable educational Q&amp;A system for AI/ML learning?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2. Dataset - 46 AI/ML Textbooks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Curated collection of canonical educational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53276"/>
            <a:ext cx="2011680" cy="548640"/>
          </a:xfrm>
          <a:prstGeom prst="round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Machine Learning</a:t>
            </a:r>
            <a:br/>
            <a:r>
              <a:t>(8 books)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84796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ISLR, ESL, PRML</a:t>
            </a:r>
            <a:br/>
            <a:r>
              <a:t>PML,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53276"/>
            <a:ext cx="2011680" cy="5486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NLP</a:t>
            </a:r>
            <a:br/>
            <a:r>
              <a:t>(4 books)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984796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SLP3, Eisenstein</a:t>
            </a:r>
            <a:br/>
            <a:r>
              <a:t>Manning 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253276"/>
            <a:ext cx="2011680" cy="54864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Mathematics</a:t>
            </a:r>
            <a:br/>
            <a:r>
              <a:t>(5 books)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84796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MML, Boyd</a:t>
            </a:r>
            <a:br/>
            <a:r>
              <a:t>MacKay, Snell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53276"/>
            <a:ext cx="2011680" cy="54864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Vision / RL</a:t>
            </a:r>
            <a:br/>
            <a:r>
              <a:t>(3 books)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984796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Szeliski, Sutton</a:t>
            </a:r>
            <a:br/>
            <a:r>
              <a:t>&amp; Barto, GRL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253276"/>
            <a:ext cx="2011680" cy="54864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Programming</a:t>
            </a:r>
            <a:br/>
            <a:r>
              <a:t>(5+ books)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984796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Fluent Python</a:t>
            </a:r>
            <a:br/>
            <a:r>
              <a:t>Clean Code, DDIA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46 BOOKS  |  85,356 CHUNKS  |  ~500MB PDFs  |  Open-access / educational copies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6ABF"/>
                </a:solidFill>
                <a:latin typeface="Segoe UI"/>
              </a:defRPr>
            </a:pPr>
            <a:r>
              <a:t>Preprocessing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94960"/>
            <a:ext cx="1828800" cy="731520"/>
          </a:xfrm>
          <a:prstGeom prst="round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MinerU</a:t>
            </a:r>
            <a:br/>
            <a:r>
              <a:t>(DocLayout-YOLO)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377440" y="5577840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43200" y="5394960"/>
            <a:ext cx="182880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Layout</a:t>
            </a:r>
            <a:br/>
            <a:r>
              <a:t>Analysis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663440" y="5577840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0" y="5394960"/>
            <a:ext cx="1828800" cy="73152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Text/Table/</a:t>
            </a:r>
            <a:br/>
            <a:r>
              <a:t>Formula Extract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49440" y="5577840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0" y="5394960"/>
            <a:ext cx="1828800" cy="73152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Intelligent</a:t>
            </a:r>
            <a:br/>
            <a:r>
              <a:t>Chunking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35440" y="5577840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01200" y="5394960"/>
            <a:ext cx="1828800" cy="73152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Dual Indexing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2. Dataset - Library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3732" y="1933662"/>
            <a:ext cx="6497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Browse all 46 textbooks</a:t>
            </a:r>
            <a:endParaRPr lang="en-US" dirty="0"/>
          </a:p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with cover art, author, and page count</a:t>
            </a:r>
          </a:p>
        </p:txBody>
      </p:sp>
      <p:pic>
        <p:nvPicPr>
          <p:cNvPr id="5" name="Picture 4" descr="screensh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062" y="1399902"/>
            <a:ext cx="6677636" cy="51541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3. RAG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4-Method Hybrid Retrieval + Reciprocal Rank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2066" y="2904242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User Query</a:t>
            </a:r>
            <a:br/>
            <a:r>
              <a:t>(Natural Language)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49426" y="3087122"/>
            <a:ext cx="36576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06626" y="2447042"/>
            <a:ext cx="2286000" cy="640080"/>
          </a:xfrm>
          <a:prstGeom prst="round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BM25 Keyword</a:t>
            </a:r>
            <a:br/>
            <a:r>
              <a:t>(SQLite FTS5)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6626" y="3224282"/>
            <a:ext cx="228600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Semantic Vector</a:t>
            </a:r>
            <a:br/>
            <a:r>
              <a:t>(ChromaDB + MiniLM)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6626" y="4001522"/>
            <a:ext cx="2286000" cy="64008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TOC Tree</a:t>
            </a:r>
            <a:br/>
            <a:r>
              <a:t>(LLM Reasoning)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6626" y="4778762"/>
            <a:ext cx="2286000" cy="6400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Metadata Filter</a:t>
            </a:r>
            <a:br/>
            <a:r>
              <a:t>(Structured)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84066" y="3361442"/>
            <a:ext cx="36576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41266" y="2995682"/>
            <a:ext cx="1828800" cy="109728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RRF Fusion</a:t>
            </a:r>
            <a:br/>
            <a:r>
              <a:t>(Reciprocal</a:t>
            </a:r>
            <a:br/>
            <a:r>
              <a:t>Rank Fusion)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61506" y="3361442"/>
            <a:ext cx="36576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18706" y="2995682"/>
            <a:ext cx="1828800" cy="10972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Ollama LLM</a:t>
            </a:r>
            <a:br/>
            <a:r>
              <a:t>qwen2.5:0.5b</a:t>
            </a:r>
            <a:br/>
            <a:r>
              <a:t>(~0.4 GB RAM)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38946" y="3361442"/>
            <a:ext cx="36576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96146" y="2995682"/>
            <a:ext cx="1645920" cy="10972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Answer</a:t>
            </a:r>
            <a:br/>
            <a:r>
              <a:t>+ Source</a:t>
            </a:r>
            <a:br/>
            <a:r>
              <a:t>Tracing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908" y="5767845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BM25: Fast exact keyword matching via SQLite FTS5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8108" y="5767845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Semantic: Embedding-based retrieval with all-MiniLM-L6-v2 + ChromaDB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1308" y="5767845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TOC Tree: Hierarchical TOC navigation using LLM reasoning per 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4508" y="5767845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Metadata: Structured filtering by book, chapter, page, content 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4. Key Feature - Deep Source Tracing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Not just citations - pixel-level traceability to original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254" y="2345548"/>
            <a:ext cx="2011680" cy="8229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User asks:</a:t>
            </a:r>
            <a:br/>
            <a:r>
              <a:t>"What is SVM?"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69374" y="2619868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52254" y="2345548"/>
            <a:ext cx="2011680" cy="822960"/>
          </a:xfrm>
          <a:prstGeom prst="round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RAG retrieves</a:t>
            </a:r>
            <a:br/>
            <a:r>
              <a:t>from 46 textbooks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55374" y="2619868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38254" y="2345548"/>
            <a:ext cx="2011680" cy="82296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Answer generated</a:t>
            </a:r>
            <a:br/>
            <a:r>
              <a:t>with source refs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41374" y="2619868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24254" y="2345548"/>
            <a:ext cx="2011680" cy="82296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Click source -&gt;</a:t>
            </a:r>
            <a:br/>
            <a:r>
              <a:t>Original PDF page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27374" y="2619868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10254" y="2345548"/>
            <a:ext cx="2011680" cy="82296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Highlighted</a:t>
            </a:r>
            <a:br/>
            <a:r>
              <a:t>bounding 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  <a:latin typeface="Segoe UI"/>
              </a:defRPr>
            </a:pPr>
            <a:r>
              <a:rPr dirty="0"/>
              <a:t>What makes this different from basic RAG?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dirty="0"/>
              <a:t>  Standard RAG: "According to textbook X, SVM is..."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dirty="0"/>
              <a:t>  Our system: Click "View PDF (p.354)" -&gt; opens original page with yellow highlight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dirty="0"/>
              <a:t>  Each chunk stores: </a:t>
            </a:r>
            <a:r>
              <a:rPr dirty="0" err="1"/>
              <a:t>book_title</a:t>
            </a:r>
            <a:r>
              <a:rPr dirty="0"/>
              <a:t>, chapter, </a:t>
            </a:r>
            <a:r>
              <a:rPr dirty="0" err="1"/>
              <a:t>page_number</a:t>
            </a:r>
            <a:r>
              <a:rPr dirty="0"/>
              <a:t>, </a:t>
            </a:r>
            <a:r>
              <a:rPr dirty="0" err="1"/>
              <a:t>bounding_box</a:t>
            </a:r>
            <a:r>
              <a:rPr dirty="0"/>
              <a:t> (x, y, w, h)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MinerU</a:t>
            </a:r>
            <a:r>
              <a:rPr dirty="0"/>
              <a:t> (</a:t>
            </a:r>
            <a:r>
              <a:rPr dirty="0" err="1"/>
              <a:t>DocLayout</a:t>
            </a:r>
            <a:r>
              <a:rPr dirty="0"/>
              <a:t>-YOLO) extracts spatial coordinates during preprocessing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dirty="0"/>
              <a:t>  Enables instant visual verification against original source material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5. Streamlit UI - Search Interface</a:t>
            </a:r>
          </a:p>
        </p:txBody>
      </p:sp>
      <p:pic>
        <p:nvPicPr>
          <p:cNvPr id="4" name="Picture 3" descr="screensh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386" y="1313521"/>
            <a:ext cx="7600427" cy="51943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5. Streamlit UI - Results &amp; PDF Viewer</a:t>
            </a:r>
          </a:p>
        </p:txBody>
      </p:sp>
      <p:pic>
        <p:nvPicPr>
          <p:cNvPr id="4" name="Picture 3" descr="screensho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996" y="1216367"/>
            <a:ext cx="9062627" cy="54499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5. Streamlit UI - Feature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266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All features of the interactive search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206" y="2308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6ABF"/>
                </a:solidFill>
                <a:latin typeface="Segoe UI"/>
              </a:defRPr>
            </a:pPr>
            <a:r>
              <a:t>Search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206" y="2765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4 retrieval methods with individual toggles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Adjustable top-K sources (1-20 slider)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Library collection filter (select books)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Model selector (qwen2.5:0.5b)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Related topic tag suggestions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Answer with full-text generation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Source documents with relevance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486" y="2308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6ABF"/>
                </a:solidFill>
                <a:latin typeface="Segoe UI"/>
              </a:defRPr>
            </a:pPr>
            <a:r>
              <a:t>PDF Viewer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486" y="2765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Click "View PDF" -&gt; opens inline viewer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Page navigation (prev/next, page input)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Zoom controls (fit width, zoom in/out)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One-page / two-page spread mode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Highlighted source region (yellow bbox)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Full-screen viewing mode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Scroll to navigate through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06" y="587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700"/>
                </a:solidFill>
                <a:latin typeface="Segoe UI"/>
              </a:defRPr>
            </a:pPr>
            <a:r>
              <a:t>Tech: Streamlit + FastAPI backend + SQLite FTS5 + ChromaDB + Ollama + MuPDF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6. Evaluation - 20 Test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Manual assessment across AI/ML/NLP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48" y="24009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6ABF"/>
                </a:solidFill>
                <a:latin typeface="Segoe UI"/>
              </a:defRPr>
            </a:pPr>
            <a:r>
              <a:t>Scoring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48" y="2858124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1.0 = Correct answer with relevant sources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0.5 = Partially correct / incomplete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0.0 = Incorrect or irrelevant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Each question: top 3 retrieved documents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Relevance marked for each source chunk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Final accuracy = mean score across 20 Qs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1128" y="24009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6ABF"/>
                </a:solidFill>
                <a:latin typeface="Segoe UI"/>
              </a:defRPr>
            </a:pPr>
            <a:r>
              <a:t>20 Test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128" y="2858124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1. What is neural attention?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2. Generative vs discriminative?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3. Gradient for logistic regression?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4. What is an N-gram LM?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5. What is skip-gram?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6. RNNs as language models?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7. 3D rigid body transformation?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8. Weight initialization?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9. Network depth?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10. Cost-sensitive classification?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1448" y="2858124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11. What is TF-IDF?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12. What is backpropagation?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13. Transformer architecture?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14. What is Word2Vec?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15. Named Entity Recognition?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16. What is beam search?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17. Dropout regularization?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18. Batch normalization?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19. What is transfer learning?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20. What is BLEU score?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48" y="59670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700"/>
                </a:solidFill>
                <a:latin typeface="Segoe UI"/>
              </a:defRPr>
            </a:pPr>
            <a:r>
              <a:t>Target accuracy: &gt;80%  |  Domains: ML, NLP, CV, Math, Deep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84D4D"/>
                </a:solidFill>
                <a:latin typeface="Segoe UI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ROS 2 Voice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931920"/>
            <a:ext cx="365760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Converting the RAG pipeline into a voice-interactive system</a:t>
            </a:r>
            <a:br/>
            <a:r>
              <a:t>using ROS 2 Humble on Ubuntu 22.04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7. ROS 2 Architecture - 5-Node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6809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Voice input -&gt; STT -&gt; RAG -&gt; TTS -&gt; Voice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361544"/>
            <a:ext cx="210312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1/5 MICROPHONE</a:t>
            </a:r>
            <a:br/>
            <a:r>
              <a:t>RecordingPublisher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635864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3275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D700"/>
                </a:solidFill>
                <a:latin typeface="Segoe UI"/>
              </a:defRPr>
            </a:pPr>
            <a:r>
              <a:t>/recording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361544"/>
            <a:ext cx="2103120" cy="91440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2/5 WHISPER STT</a:t>
            </a:r>
            <a:br/>
            <a:r>
              <a:t>WordsPublisher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0600" y="2635864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3275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D700"/>
                </a:solidFill>
                <a:latin typeface="Segoe UI"/>
              </a:defRPr>
            </a:pPr>
            <a:r>
              <a:t>/words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361544"/>
            <a:ext cx="2103120" cy="9144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3/5 RAG + LLM</a:t>
            </a:r>
            <a:br/>
            <a:r>
              <a:t>OllamaPublisher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78040" y="2635864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3275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D700"/>
                </a:solidFill>
                <a:latin typeface="Segoe UI"/>
              </a:defRPr>
            </a:pPr>
            <a:r>
              <a:t>/ollama_reply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361544"/>
            <a:ext cx="2103120" cy="91440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4/5 SPEAKER</a:t>
            </a:r>
            <a:br/>
            <a:r>
              <a:t>SpeakClient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55480" y="2635864"/>
            <a:ext cx="27432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3275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D700"/>
                </a:solidFill>
                <a:latin typeface="Segoe UI"/>
              </a:defRPr>
            </a:pPr>
            <a:r>
              <a:t>/speak (srv)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361544"/>
            <a:ext cx="2103120" cy="9144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5/5 TTS ENGINE</a:t>
            </a:r>
            <a:br/>
            <a:r>
              <a:t>SpeakService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16024"/>
            <a:ext cx="859536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aisd_hearing package (our code)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916024"/>
            <a:ext cx="237744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aisd_speaking (provided)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47544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Node Details: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1. RecordingPublisher: Mic input + Silero VAD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2. WordsPublisher: faster-whisper (int8, auto-lang)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3. OllamaPublisher: RAG + qwen2.5:0.5b (our node)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4. SpeakClient: Receives reply, calls TTS service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5. SpeakService: gTTS -&gt; audio playback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47544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Deployment: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Platform: Ubuntu 22.04 (loaner laptop)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ROS 2 Humble + colcon build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Process mgmt: tmux (5 panes)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Deploy: SCP from Windows -&gt; laptop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One-click: start_loaner.bat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8. Implementation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8856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ollama_publisher.py - The bridge between Part 1 and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856" y="2476831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D700"/>
                </a:solidFill>
                <a:latin typeface="Segoe UI"/>
              </a:defRPr>
            </a:pPr>
            <a:r>
              <a:t>ollama_publisher.py (our new node):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Subscribes to: /words (STT output)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Publishes to: /ollama_reply (LLM answer)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Loads knowledge.txt at startup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Constructs system prompt with RAG context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Queries local Ollama API (localhost:11434)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15s cooldown between replies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Hallucination filtering on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8136" y="2476831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D700"/>
                </a:solidFill>
                <a:latin typeface="Segoe UI"/>
              </a:defRPr>
            </a:pPr>
            <a:r>
              <a:t>Deployment Automation: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start_loaner.bat (Windows -&gt; laptop):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 Step 1: SCP sync (4 .py + knowledge.txt)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 Step 2: Stop existing tmux session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 Step 3: colcon build --symlink-install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 Step 4: tmux launch 5 panes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stop_loaner.bat: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 Kill tmux + cleanup orphan processes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9. ROS 2 Demo - Live Voice Q&amp;A</a:t>
            </a:r>
          </a:p>
        </p:txBody>
      </p:sp>
      <p:pic>
        <p:nvPicPr>
          <p:cNvPr id="4" name="Picture 3" descr="screensho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024" y="2179403"/>
            <a:ext cx="7502346" cy="44890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FE7142-382B-4C7A-E9F6-F7FA5A9D25D2}"/>
              </a:ext>
            </a:extLst>
          </p:cNvPr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5-node pipeline running on loaner laptop via </a:t>
            </a:r>
            <a:r>
              <a:rPr dirty="0" err="1"/>
              <a:t>tmux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3D6AF-B102-A1A3-40E1-84727B48FBE7}"/>
              </a:ext>
            </a:extLst>
          </p:cNvPr>
          <p:cNvSpPr txBox="1"/>
          <p:nvPr/>
        </p:nvSpPr>
        <p:spPr>
          <a:xfrm>
            <a:off x="914400" y="1647203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Q&amp;A flow (attention, skip-gram questions) </a:t>
            </a:r>
            <a:r>
              <a:rPr lang="en-US" dirty="0"/>
              <a:t>    </a:t>
            </a:r>
            <a:r>
              <a:rPr dirty="0"/>
              <a:t>→ Continued responses + TTS playback confirmation</a:t>
            </a:r>
            <a:endParaRPr lang="en-US" dirty="0"/>
          </a:p>
          <a:p>
            <a:pPr>
              <a:defRPr sz="13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Pipeline: Mic → Whisper </a:t>
            </a:r>
            <a:r>
              <a:rPr lang="en-US" dirty="0"/>
              <a:t>    </a:t>
            </a:r>
            <a:r>
              <a:rPr dirty="0"/>
              <a:t>→ RAG + </a:t>
            </a:r>
            <a:r>
              <a:rPr dirty="0" err="1"/>
              <a:t>Ollama</a:t>
            </a:r>
            <a:r>
              <a:rPr dirty="0"/>
              <a:t> → </a:t>
            </a:r>
            <a:r>
              <a:rPr dirty="0" err="1"/>
              <a:t>gTTS</a:t>
            </a:r>
            <a:r>
              <a:rPr dirty="0"/>
              <a:t> → Speaker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Results - Key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457200"/>
          </a:xfrm>
          <a:prstGeom prst="round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Hybrid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21222" y="20116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Successfully implemented hybrid RAG architecture</a:t>
            </a:r>
            <a:br>
              <a:rPr dirty="0"/>
            </a:br>
            <a:r>
              <a:rPr dirty="0"/>
              <a:t>with 4 retrieval methods + RRF 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560320" cy="45720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Deep Source Tracing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21222" y="29260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Deep source tracing with clickable PDF references</a:t>
            </a:r>
            <a:br>
              <a:rPr dirty="0"/>
            </a:br>
            <a:r>
              <a:rPr dirty="0"/>
              <a:t>and highlighted bounding box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560320" cy="45720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Layout-Aware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222" y="38404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Layout-aware document processing preserving</a:t>
            </a:r>
            <a:br/>
            <a:r>
              <a:t>tables, formulas, and figures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2560320" cy="4572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ROS 2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222" y="4754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Full ROS 2 integration with vocal interaction</a:t>
            </a:r>
            <a:br/>
            <a:r>
              <a:t>pipeline (5-node architecture)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2560320" cy="4572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Low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222" y="56692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Low memory footprint (&lt;1.5GB total)</a:t>
            </a:r>
            <a:br/>
            <a:r>
              <a:t>suitable for robot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Tech Stack:  Python | Ollama | ChromaDB | SQLite | Streamlit | ROS 2 | MinerU | Whisper | gTTS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10. 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926080" cy="45720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Whisper Hallucinations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11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Silero VAD pre-filtering + custom hallucination detector (repetition check, known phrases, trigram analysis)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926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Echo Loop (TTS to Mic)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926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15-second cooldown timer after each reply prevents system from hearing its own TTS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926080" cy="45720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Resource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840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qwen2.5:0.5b (0.4GB) + faster-whisper int8 -- 3 AI models (Whisper + Ollama + gTTS) on one CPU laptop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2926080" cy="4572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Cross-Platform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754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Automated bat/sh scripts: SCP sync -&gt; colcon build -&gt; tmux launch -- one-click deployment from Windows to Ubuntu laptop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2926080" cy="457200"/>
          </a:xfrm>
          <a:prstGeom prst="round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PDF Layout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669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MinerU + DocLayout-YOLO detects 10 element categories -- preserves tables, formulas, figures with bounding box coordinates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11. Discussion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34747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1403" y="224227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4D"/>
                </a:solidFill>
                <a:latin typeface="Segoe UI"/>
              </a:defRPr>
            </a:pPr>
            <a:r>
              <a:rPr dirty="0"/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1403" y="3009574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Small LLM (0.5B params) - limited generation quality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Single-turn Q&amp;A only (no conversation memory)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Static knowledge file (no live updates)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CPU inference is slow (~10-15s per response)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ROS 2 Part 2 uses simplified knowledge base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English-only knowledge base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303520" cy="34747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2123" y="224227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2123" y="3009574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Upgrade to qwen2.5:3b with GPU support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Multi-turn conversation with context memory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Dynamic knowledge base updates via API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Multi-language support (KR, CN, EN)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Integration with iRobot Create 3 hardware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Fine-tuning on educational domain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We built a RAG-based educational Q&amp;A system that: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Answers AI/ML questions using 46 canonical textbooks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Provides deep source tracing to exact PDF pages with highlighted regions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Implements 4-method hybrid retrieval with RRF fusion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Integrates seamlessly with ROS 2 for voice-interactive robot deployment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Runs locally with low memory footprint (&lt;1.5GB)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Segoe UI"/>
              </a:defRPr>
            </a:pPr>
            <a:r>
              <a:rPr dirty="0"/>
              <a:t>A complete voice-interactive RAG pipeline - from 46 textbooks to real-time voice Q&amp;A on a ROS 2 platform.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4EC9B0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27432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5B6AB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Hye Ran Yoo (041145212)  |  Peng Wang (0411</a:t>
            </a:r>
            <a:r>
              <a:rPr lang="en-US" dirty="0"/>
              <a:t>07730</a:t>
            </a:r>
            <a:r>
              <a:rPr dirty="0"/>
              <a:t>)</a:t>
            </a:r>
            <a:br>
              <a:rPr dirty="0"/>
            </a:br>
            <a:r>
              <a:rPr dirty="0"/>
              <a:t>CST8507: Natural Language Processing</a:t>
            </a:r>
            <a:br>
              <a:rPr dirty="0"/>
            </a:br>
            <a:r>
              <a:rPr dirty="0"/>
              <a:t>GitHub: github.com/</a:t>
            </a:r>
            <a:r>
              <a:rPr dirty="0" err="1"/>
              <a:t>LannieYoo</a:t>
            </a:r>
            <a:r>
              <a:rPr dirty="0"/>
              <a:t>/</a:t>
            </a:r>
            <a:r>
              <a:rPr dirty="0" err="1"/>
              <a:t>nlp_project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5303520"/>
            <a:ext cx="11247120" cy="6400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Python | Ollama | ChromaDB | SQLite | Streamlit | FastAPI | ROS 2 | MinerU | Whisper | gTTS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1861</Words>
  <Application>Microsoft Office PowerPoint</Application>
  <PresentationFormat>와이드스크린</PresentationFormat>
  <Paragraphs>253</Paragraphs>
  <Slides>20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等线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Peng Wang</cp:lastModifiedBy>
  <cp:revision>29</cp:revision>
  <dcterms:created xsi:type="dcterms:W3CDTF">2013-01-27T09:14:16Z</dcterms:created>
  <dcterms:modified xsi:type="dcterms:W3CDTF">2026-03-30T18:04:46Z</dcterms:modified>
  <cp:category/>
</cp:coreProperties>
</file>