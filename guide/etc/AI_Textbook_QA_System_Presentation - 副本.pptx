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AI Textbook Q&amp;A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5B6ABF"/>
                </a:solidFill>
                <a:latin typeface="Segoe UI"/>
              </a:defRPr>
            </a:pPr>
            <a:r>
              <a:t>A RAG-Based Educational Question Answering System</a:t>
            </a:r>
            <a:br/>
            <a:r>
              <a:t>with Deep Source Tracing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657600"/>
            <a:ext cx="3657600" cy="54864"/>
          </a:xfrm>
          <a:prstGeom prst="rect">
            <a:avLst/>
          </a:prstGeom>
          <a:solidFill>
            <a:srgbClr val="5B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Segoe UI"/>
              </a:defRPr>
            </a:pPr>
            <a:r>
              <a:t>Wang, Peng  |  Yoo, Hye Ran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754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CST8507: Natural Language Processing — Assignment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212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April 3,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91640"/>
            <a:ext cx="2286000" cy="54864"/>
          </a:xfrm>
          <a:prstGeom prst="rect">
            <a:avLst/>
          </a:prstGeom>
          <a:solidFill>
            <a:srgbClr val="5B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Segoe UI"/>
              </a:defRPr>
            </a:pPr>
            <a:r>
              <a:t>Problem &amp;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Problem: Students must navigate 46+ AI/ML textbooks to find answers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Goal: Ask a natural language question → Get an accurate, sourced answer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Key Innovation — Deep Source Tracing: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 • Not just citing a book title — pinpoints the exact page &amp; region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 • Click any source → see the original PDF with highlighted area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Domain: AI, Machine Learning, NLP, Computer Vision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46 textbooks  |  85,356 indexed chunks  |  ~500MB PDF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Dataset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91640"/>
            <a:ext cx="2286000" cy="54864"/>
          </a:xfrm>
          <a:prstGeom prst="rect">
            <a:avLst/>
          </a:prstGeom>
          <a:solidFill>
            <a:srgbClr val="5B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Segoe UI"/>
              </a:defRPr>
            </a:pPr>
            <a:r>
              <a:t>46 Canonical AI/ML Textbooks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2011680" cy="548640"/>
          </a:xfrm>
          <a:prstGeom prst="roundRect">
            <a:avLst/>
          </a:prstGeom>
          <a:solidFill>
            <a:srgbClr val="5B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8 books</a:t>
            </a:r>
            <a:br/>
            <a:r>
              <a:t>ISLR, ESL, PRML</a:t>
            </a:r>
            <a:br/>
            <a:r>
              <a:t>PML, Deep Learning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0" y="2286000"/>
            <a:ext cx="2011680" cy="54864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NLP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92608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4 books</a:t>
            </a:r>
            <a:br/>
            <a:r>
              <a:t>SLP3, Eisenstein</a:t>
            </a:r>
            <a:br/>
            <a:r>
              <a:t>Manning IR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2286000"/>
            <a:ext cx="2011680" cy="548640"/>
          </a:xfrm>
          <a:prstGeom prst="round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Mathematics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292608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5 books</a:t>
            </a:r>
            <a:br/>
            <a:r>
              <a:t>MML, Boyd</a:t>
            </a:r>
            <a:br/>
            <a:r>
              <a:t>MacKay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2286000"/>
            <a:ext cx="2011680" cy="548640"/>
          </a:xfrm>
          <a:prstGeom prst="round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Vision / RL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292608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3 books</a:t>
            </a:r>
            <a:br/>
            <a:r>
              <a:t>Szeliski, Sutton</a:t>
            </a:r>
            <a:br/>
            <a:r>
              <a:t>&amp; Barto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0" y="2286000"/>
            <a:ext cx="2011680" cy="548640"/>
          </a:xfrm>
          <a:prstGeom prst="round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Programming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0" y="292608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5 books</a:t>
            </a:r>
            <a:br/>
            <a:r>
              <a:t>Fluent Python</a:t>
            </a:r>
            <a:br/>
            <a:r>
              <a:t>Clean 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D700"/>
                </a:solidFill>
                <a:latin typeface="Segoe UI"/>
              </a:defRPr>
            </a:pPr>
            <a:r>
              <a:t>Total:  46 books  |  85,356 chunks  |  ~500MB PDFs  |  Open-access / educational copies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303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Preprocessing: MinerU (DocLayout-YOLO) → Layout analysis → Specialized extraction (text, tables, formulas, figures) → Intelligent chunking with metadata (book, chapter, page, bbox)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Part 1: Method — RAG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91640"/>
            <a:ext cx="2286000" cy="54864"/>
          </a:xfrm>
          <a:prstGeom prst="rect">
            <a:avLst/>
          </a:prstGeom>
          <a:solidFill>
            <a:srgbClr val="5B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Segoe UI"/>
              </a:defRPr>
            </a:pPr>
            <a:r>
              <a:t>4-Method Hybrid Retrieval + RRF Fusion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1828800" cy="64008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1A2E"/>
                </a:solidFill>
                <a:latin typeface="Segoe UI"/>
              </a:defRPr>
            </a:pPr>
            <a:r>
              <a:t>User Query</a:t>
            </a:r>
            <a:br/>
            <a:r>
              <a:t>(Natural Language)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377440" y="2423160"/>
            <a:ext cx="548640" cy="32004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017520" y="2011680"/>
            <a:ext cx="2103120" cy="640080"/>
          </a:xfrm>
          <a:prstGeom prst="roundRect">
            <a:avLst/>
          </a:prstGeom>
          <a:solidFill>
            <a:srgbClr val="5B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BM25 Keyword</a:t>
            </a:r>
            <a:br/>
            <a:r>
              <a:t>(SQLite FTS5)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2788920"/>
            <a:ext cx="2103120" cy="64008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Semantic Vector</a:t>
            </a:r>
            <a:br/>
            <a:r>
              <a:t>(ChromaDB)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3566160"/>
            <a:ext cx="2103120" cy="640080"/>
          </a:xfrm>
          <a:prstGeom prst="round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TOC Tree</a:t>
            </a:r>
            <a:br/>
            <a:r>
              <a:t>(LLM Reasoning)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4343400"/>
            <a:ext cx="2103120" cy="640080"/>
          </a:xfrm>
          <a:prstGeom prst="round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Metadata Filter</a:t>
            </a:r>
            <a:br/>
            <a:r>
              <a:t>(Structured)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212080" y="2926080"/>
            <a:ext cx="548640" cy="32004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852160" y="2560320"/>
            <a:ext cx="1828800" cy="914400"/>
          </a:xfrm>
          <a:prstGeom prst="round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1A2E"/>
                </a:solidFill>
                <a:latin typeface="Segoe UI"/>
              </a:defRPr>
            </a:pPr>
            <a:r>
              <a:t>RRF Fusion</a:t>
            </a:r>
            <a:br/>
            <a:r>
              <a:t>(Reciprocal</a:t>
            </a:r>
            <a:br/>
            <a:r>
              <a:t>Rank Fusion)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772400" y="2834640"/>
            <a:ext cx="548640" cy="32004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412480" y="2560320"/>
            <a:ext cx="1828800" cy="914400"/>
          </a:xfrm>
          <a:prstGeom prst="round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Ollama LLM</a:t>
            </a:r>
            <a:br/>
            <a:r>
              <a:t>qwen2.5:0.5b</a:t>
            </a:r>
            <a:br/>
            <a:r>
              <a:t>(~0.4 GB)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0332720" y="2834640"/>
            <a:ext cx="548640" cy="32004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972800" y="2560320"/>
            <a:ext cx="1005840" cy="914400"/>
          </a:xfrm>
          <a:prstGeom prst="round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1A2E"/>
                </a:solidFill>
                <a:latin typeface="Segoe UI"/>
              </a:defRPr>
            </a:pPr>
            <a:r>
              <a:t>Answer</a:t>
            </a:r>
            <a:br/>
            <a:r>
              <a:t>+</a:t>
            </a:r>
            <a:br/>
            <a:r>
              <a:t>Sources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Segoe UI"/>
              </a:defRPr>
            </a:pPr>
            <a:r>
              <a:t>Key Feature: Deep Source Tracing — Click any source → Original PDF page with highlighted bounding box region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Part 1: Streamlit UI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91640"/>
            <a:ext cx="2286000" cy="54864"/>
          </a:xfrm>
          <a:prstGeom prst="rect">
            <a:avLst/>
          </a:prstGeom>
          <a:solidFill>
            <a:srgbClr val="5B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Segoe UI"/>
              </a:defRPr>
            </a:pPr>
            <a:r>
              <a:t>Interactive search with source tracing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5B6ABF"/>
                </a:solidFill>
                <a:latin typeface="Segoe UI"/>
              </a:defRPr>
            </a:pPr>
            <a:r>
              <a:t>Search Interface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4 retrieval methods: BM25, Vector, TOC, Metadata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Adjustable top-K sources (1-20)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Library filter: select specific textbooks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Model selector: qwen2.5:0.5b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Related topic suggestions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5B6ABF"/>
                </a:solidFill>
                <a:latin typeface="Segoe UI"/>
              </a:defRPr>
            </a:pPr>
            <a:r>
              <a:t>Result 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6517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RAG-generated answer at top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Source documents with relevance scores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Click 'View PDF' → original page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Highlighted bounding box on PDF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Page navigation + zoom controls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D700"/>
                </a:solidFill>
                <a:latin typeface="Segoe UI"/>
              </a:defRPr>
            </a:pPr>
            <a:r>
              <a:t>46 books  •  85,356 chunks  •  qwen2.5:0.5b (~0.4GB)  •  Runs 100% locally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Part 1: Evaluation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91640"/>
            <a:ext cx="2286000" cy="54864"/>
          </a:xfrm>
          <a:prstGeom prst="rect">
            <a:avLst/>
          </a:prstGeom>
          <a:solidFill>
            <a:srgbClr val="5B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Segoe UI"/>
              </a:defRPr>
            </a:pPr>
            <a:r>
              <a:t>20 test questions across AI/ML/NLP domains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B6ABF"/>
                </a:solidFill>
                <a:latin typeface="Segoe UI"/>
              </a:defRPr>
            </a:pPr>
            <a:r>
              <a:t>Scoring 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20 domain-specific questions prepared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Manual assessment: 1 (correct), 0.5 (partial), 0 (incorrect)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Top 3 retrieved documents per question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Relevance marked for each source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Final score = average across all 20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B6ABF"/>
                </a:solidFill>
                <a:latin typeface="Segoe UI"/>
              </a:defRPr>
            </a:pPr>
            <a:r>
              <a:t>Sample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5603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1. What is neural attention?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2. Generative vs discriminative classifiers?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3. What is the Transformer architecture?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4. What is TF-IDF?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5. What is backpropagation?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6. What is Named Entity Recognition?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7. What is beam search?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8. What is transfer learning?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Segoe UI"/>
              </a:defRPr>
            </a:pPr>
            <a:r>
              <a:t>... (20 questions total)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Part 2: ROS 2 Integration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91640"/>
            <a:ext cx="2286000" cy="54864"/>
          </a:xfrm>
          <a:prstGeom prst="rect">
            <a:avLst/>
          </a:prstGeom>
          <a:solidFill>
            <a:srgbClr val="5B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Segoe UI"/>
              </a:defRPr>
            </a:pPr>
            <a:r>
              <a:t>Converting RAG into a ROS 2 vocal interaction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2560320"/>
            <a:ext cx="2011680" cy="91440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1. MICROPHONE</a:t>
            </a:r>
            <a:br/>
            <a:r>
              <a:t>RecordingPublisher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2560320"/>
            <a:ext cx="2011680" cy="914400"/>
          </a:xfrm>
          <a:prstGeom prst="round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2. WHISPER STT</a:t>
            </a:r>
            <a:br/>
            <a:r>
              <a:t>WordsPublisher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2560320"/>
            <a:ext cx="2011680" cy="914400"/>
          </a:xfrm>
          <a:prstGeom prst="round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3. RAG + LLM</a:t>
            </a:r>
            <a:br/>
            <a:r>
              <a:t>OllamaPublisher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2560320"/>
            <a:ext cx="2011680" cy="914400"/>
          </a:xfrm>
          <a:prstGeom prst="round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4. SPEAKER</a:t>
            </a:r>
            <a:br/>
            <a:r>
              <a:t>SpeakClient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0" y="2560320"/>
            <a:ext cx="2011680" cy="914400"/>
          </a:xfrm>
          <a:prstGeom prst="round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5. TTS ENGINE</a:t>
            </a:r>
            <a:br/>
            <a:r>
              <a:t>SpeakService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377440" y="2834640"/>
            <a:ext cx="457200" cy="32004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32918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D700"/>
                </a:solidFill>
                <a:latin typeface="Segoe UI"/>
              </a:defRPr>
            </a:pPr>
            <a:r>
              <a:t>recording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663440" y="2834640"/>
            <a:ext cx="457200" cy="32004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32918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D700"/>
                </a:solidFill>
                <a:latin typeface="Segoe UI"/>
              </a:defRPr>
            </a:pPr>
            <a:r>
              <a:t>words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949440" y="2834640"/>
            <a:ext cx="457200" cy="32004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32918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D700"/>
                </a:solidFill>
                <a:latin typeface="Segoe UI"/>
              </a:defRPr>
            </a:pPr>
            <a:r>
              <a:t>ollama_reply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235440" y="2834640"/>
            <a:ext cx="457200" cy="32004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32918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D700"/>
                </a:solidFill>
                <a:latin typeface="Segoe UI"/>
              </a:defRPr>
            </a:pPr>
            <a:r>
              <a:t>speak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389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B6ABF"/>
                </a:solidFill>
                <a:latin typeface="Segoe UI"/>
              </a:defRPr>
            </a:pPr>
            <a:r>
              <a:t>Implementation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8463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• ollama_publisher.py — New ROS 2 node (our Part 1 code)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• Subscribes to 'words' topic (Whisper output)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• Publishes to 'ollama_reply' topic (RAG answer)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• speak_client subscribes to 'ollama_reply' (not 'words')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• Local Ollama API + knowledge.txt for RAG context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389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B6ABF"/>
                </a:solidFill>
                <a:latin typeface="Segoe UI"/>
              </a:defRPr>
            </a:pPr>
            <a:r>
              <a:t>Tech Stack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8463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• Ubuntu 22.04 on loaner laptop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• ROS 2 Humble + colcon build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• Ollama qwen2.5:0.5b (CPU, ~0.4GB)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• faster-whisper (small, int8) + Silero VAD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• gTTS for text-to-speech output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Part 2: ROS 2 Live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91640"/>
            <a:ext cx="2286000" cy="54864"/>
          </a:xfrm>
          <a:prstGeom prst="rect">
            <a:avLst/>
          </a:prstGeom>
          <a:solidFill>
            <a:srgbClr val="5B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Segoe UI"/>
              </a:defRPr>
            </a:pPr>
            <a:r>
              <a:t>5-node pipeline running on loaner laptop via tmux</a:t>
            </a:r>
          </a:p>
        </p:txBody>
      </p:sp>
      <p:pic>
        <p:nvPicPr>
          <p:cNvPr id="5" name="Picture 4" descr="screensho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03120"/>
            <a:ext cx="5486400" cy="3277562"/>
          </a:xfrm>
          <a:prstGeom prst="rect">
            <a:avLst/>
          </a:prstGeom>
        </p:spPr>
      </p:pic>
      <p:pic>
        <p:nvPicPr>
          <p:cNvPr id="6" name="Picture 5" descr="screenshop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103120"/>
            <a:ext cx="5486400" cy="32827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Left: Q&amp;A flow (attention, skip-gram questions) → Right: Continued responses + TTS playback confirmation</a:t>
            </a:r>
            <a:br/>
            <a:r>
              <a:t>Pipeline: Mic → Whisper → RAG + Ollama → gTTS → Speaker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Challenges &amp; Solutions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91640"/>
            <a:ext cx="2286000" cy="54864"/>
          </a:xfrm>
          <a:prstGeom prst="rect">
            <a:avLst/>
          </a:prstGeom>
          <a:solidFill>
            <a:srgbClr val="5B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743200" cy="457200"/>
          </a:xfrm>
          <a:prstGeom prst="round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Whisper Hallucinations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201168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Added Silero VAD pre-filtering + custom hallucination detector</a:t>
            </a:r>
            <a:br/>
            <a:r>
              <a:t>(repetition, known phrases, trigram analysis)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08960"/>
            <a:ext cx="2743200" cy="457200"/>
          </a:xfrm>
          <a:prstGeom prst="round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Echo Loop (TTS → Mic)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310896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15-second cooldown timer after each reply</a:t>
            </a:r>
            <a:br/>
            <a:r>
              <a:t>prevents the system from hearing its own TTS 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2743200" cy="457200"/>
          </a:xfrm>
          <a:prstGeom prst="round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Resource Constraints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420624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qwen2.5:0.5b (0.4GB) + faster-whisper int8 quantization</a:t>
            </a:r>
            <a:br/>
            <a:r>
              <a:t>enables 3 AI models (Whisper + Ollama + gTTS) on one CPU laptop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303520"/>
            <a:ext cx="2743200" cy="457200"/>
          </a:xfrm>
          <a:prstGeom prst="round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Cross-Platform Deploy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530352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Automated bat/sh scripts: SCP sync → colcon build → tmux launch</a:t>
            </a:r>
            <a:br/>
            <a:r>
              <a:t>One-click deployment from Windows to Ubuntu loaner laptop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Discussion &amp;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91640"/>
            <a:ext cx="2286000" cy="54864"/>
          </a:xfrm>
          <a:prstGeom prst="rect">
            <a:avLst/>
          </a:prstGeom>
          <a:solidFill>
            <a:srgbClr val="5B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4D4D"/>
                </a:solidFill>
                <a:latin typeface="Segoe UI"/>
              </a:defRPr>
            </a:pPr>
            <a:r>
              <a:t>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Small LLM (0.5B) limits generation quality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Single-turn Q&amp;A only (no conversation memory)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Knowledge file is static (no live updates)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CPU inference is slow (~10-15s per response)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9B0"/>
                </a:solidFill>
                <a:latin typeface="Segoe UI"/>
              </a:defRPr>
            </a:pPr>
            <a:r>
              <a:t>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5603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Upgrade to larger models (qwen2.5:3b) with GPU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Multi-turn conversation with context memory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Dynamic knowledge base updates via API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Multi-language support (Korean, Chinese, English)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• Integration with robotic hardware (iRobot Create 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Segoe UI"/>
              </a:defRPr>
            </a:pPr>
            <a:r>
              <a:t>Conclusion: We built a complete voice-interactive RAG pipeline — from 46 textbooks to real-time voice Q&amp;A on a robot-ready ROS 2 platform. The system demonstrates that meaningful AI assistance is possible even with a 0.4GB model.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3017520"/>
            <a:ext cx="2743200" cy="54864"/>
          </a:xfrm>
          <a:prstGeom prst="rect">
            <a:avLst/>
          </a:prstGeom>
          <a:solidFill>
            <a:srgbClr val="5B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5B6ABF"/>
                </a:solidFill>
                <a:latin typeface="Segoe UI"/>
              </a:defRPr>
            </a:pPr>
            <a: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Wang, Peng  |  Yoo, Hye Ran</a:t>
            </a:r>
            <a:br/>
            <a:r>
              <a:t>CST8507: Natural Language Processing</a:t>
            </a:r>
            <a:br/>
            <a:r>
              <a:t>GitHub: github.com/LannieYoo/nlp_project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